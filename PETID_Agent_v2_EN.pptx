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PET Token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E3A6E"/>
              </a:solidFill>
              <a:effectLst/>
            </c:spPr>
          </c:dPt>
          <c:dPt>
            <c:idx val="1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bubble3D val="0"/>
            <c:spPr>
              <a:solidFill>
                <a:srgbClr val="F97316"/>
              </a:solidFill>
              <a:effectLst/>
            </c:spPr>
          </c:dPt>
          <c:dPt>
            <c:idx val="3"/>
            <c:bubble3D val="0"/>
            <c:spPr>
              <a:solidFill>
                <a:srgbClr val="A855F7"/>
              </a:solidFill>
              <a:effectLst/>
            </c:spPr>
          </c:dPt>
          <c:dPt>
            <c:idx val="4"/>
            <c:bubble3D val="0"/>
            <c:spPr>
              <a:solidFill>
                <a:srgbClr val="EF4444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Operations</c:v>
                </c:pt>
                <c:pt idx="1">
                  <c:v>Ecosystem (shelters)</c:v>
                </c:pt>
                <c:pt idx="2">
                  <c:v>Finders Pool (rewards)</c:v>
                </c:pt>
                <c:pt idx="3">
                  <c:v>Revenue share to holders</c:v>
                </c:pt>
                <c:pt idx="4">
                  <c:v>Burn per transaction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63</c:v>
                </c:pt>
                <c:pt idx="1">
                  <c:v>20</c:v>
                </c:pt>
                <c:pt idx="2">
                  <c:v>10</c:v>
                </c:pt>
                <c:pt idx="3">
                  <c:v>5</c:v>
                </c:pt>
                <c:pt idx="4">
                  <c:v>2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B1D3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41148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PETID Agent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1828800" y="1417320"/>
            <a:ext cx="1188720" cy="3200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28800" y="1417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2.0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828800" y="18288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AI Agent · Lost Pets · Blockchain Transparency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1828800" y="2377440"/>
            <a:ext cx="54864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828800" y="25146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1M+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1828800" y="299923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pets per year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206240" y="25146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4206240" y="299923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rate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583680" y="25146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&lt;10s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6583680" y="299923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E3A6E"/>
          </a:solidFill>
          <a:ln w="12700">
            <a:solidFill>
              <a:srgbClr val="0E3A6E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681728"/>
            <a:ext cx="320040" cy="3200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49808" y="4663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@petid_agent_bot</a:t>
            </a:r>
            <a:endParaRPr lang="en-US" sz="11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4681728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401568" y="4663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 Bot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5029200" y="46634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Syscoin PoB IV  ·  zkTanenbaum Testnet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64008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75488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 loss: a silent crisis across Latin America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850392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97280"/>
            <a:ext cx="2743200" cy="228600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97280"/>
            <a:ext cx="274320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234440"/>
            <a:ext cx="502920" cy="502920"/>
          </a:xfrm>
          <a:prstGeom prst="ellipse">
            <a:avLst/>
          </a:prstGeom>
          <a:solidFill>
            <a:srgbClr val="F97316">
              <a:alpha val="20000"/>
            </a:srgbClr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289304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18288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1,000,000+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457200" y="2377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pets lost per year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26791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Peru alone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00400" y="1097280"/>
            <a:ext cx="2743200" cy="228600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00400" y="1097280"/>
            <a:ext cx="2743200" cy="6400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383280" y="1234440"/>
            <a:ext cx="502920" cy="502920"/>
          </a:xfrm>
          <a:prstGeom prst="ellipse">
            <a:avLst/>
          </a:prstGeom>
          <a:solidFill>
            <a:srgbClr val="E53E3E">
              <a:alpha val="20000"/>
            </a:srgbClr>
          </a:solidFill>
          <a:ln w="12700">
            <a:solidFill>
              <a:srgbClr val="E53E3E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8144" y="1289304"/>
            <a:ext cx="384048" cy="38404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337560" y="18288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2600" dirty="0"/>
          </a:p>
        </p:txBody>
      </p:sp>
      <p:sp>
        <p:nvSpPr>
          <p:cNvPr id="18" name="Text 14"/>
          <p:cNvSpPr/>
          <p:nvPr/>
        </p:nvSpPr>
        <p:spPr>
          <a:xfrm>
            <a:off x="3337560" y="2377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rate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3337560" y="26791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never make it home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080760" y="1097280"/>
            <a:ext cx="2743200" cy="228600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080760" y="1097280"/>
            <a:ext cx="27432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263640" y="1234440"/>
            <a:ext cx="502920" cy="50292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4" y="1289304"/>
            <a:ext cx="384048" cy="38404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217920" y="18288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days</a:t>
            </a:r>
            <a:endParaRPr lang="en-US" sz="2600" dirty="0"/>
          </a:p>
        </p:txBody>
      </p:sp>
      <p:sp>
        <p:nvSpPr>
          <p:cNvPr id="25" name="Text 20"/>
          <p:cNvSpPr/>
          <p:nvPr/>
        </p:nvSpPr>
        <p:spPr>
          <a:xfrm>
            <a:off x="6217920" y="2377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recovery time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6217920" y="26791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70% recovered within 24h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320040" y="3520440"/>
            <a:ext cx="8503920" cy="132588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502920" y="3611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methods are failing: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502920" y="393192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Fragmented — Facebook posts, flyers, phone calls with zero coordination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Slow — days to organize a manual search when every hour counts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 transparency — you never know if anyone even saw your post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Zero technology — no automation, no AI, no centralized system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64008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PETID Agent — The Solution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75488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autonomous AI agent that acts in seconds, not days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850392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43000"/>
            <a:ext cx="2011680" cy="201168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87552" y="1280160"/>
            <a:ext cx="676656" cy="676656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1335024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20116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11480" y="2331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/ Discord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331720" y="2148840"/>
            <a:ext cx="201168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532888" y="1143000"/>
            <a:ext cx="2011680" cy="201168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0" y="1280160"/>
            <a:ext cx="676656" cy="676656"/>
          </a:xfrm>
          <a:prstGeom prst="ellipse">
            <a:avLst/>
          </a:prstGeom>
          <a:solidFill>
            <a:srgbClr val="F97316">
              <a:alpha val="25000"/>
            </a:srgbClr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5264" y="1335024"/>
            <a:ext cx="548640" cy="5486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624328" y="20116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2624328" y="2331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Cerebras Llama 3.1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544568" y="2148840"/>
            <a:ext cx="201168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745736" y="1143000"/>
            <a:ext cx="2011680" cy="201168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413248" y="1280160"/>
            <a:ext cx="676656" cy="676656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8112" y="1335024"/>
            <a:ext cx="548640" cy="5486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837176" y="20116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4837176" y="2331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active tools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757416" y="2148840"/>
            <a:ext cx="201168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958584" y="1143000"/>
            <a:ext cx="2011680" cy="201168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7626096" y="1280160"/>
            <a:ext cx="676656" cy="676656"/>
          </a:xfrm>
          <a:prstGeom prst="ellipse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1335024"/>
            <a:ext cx="548640" cy="54864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050024" y="20116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7050024" y="2331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zkTanenbaum NFT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320040" y="32918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agent do autonomously?</a:t>
            </a:r>
            <a:endParaRPr lang="en-US" sz="140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3749040"/>
            <a:ext cx="201168" cy="20116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94360" y="37033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the alert and extracts data from natural language messages</a:t>
            </a:r>
            <a:endParaRPr lang="en-US" sz="1100" dirty="0"/>
          </a:p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3749040"/>
            <a:ext cx="201168" cy="20116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474720" y="37033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clickable WhatsApp link (wa.me/number)</a:t>
            </a:r>
            <a:endParaRPr lang="en-US" sz="1100" dirty="0"/>
          </a:p>
        </p:txBody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0760" y="3749040"/>
            <a:ext cx="201168" cy="201168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6355080" y="37033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ready-to-paste templates for Facebook, WhatsApp, Telegram &amp; Instagram</a:t>
            </a:r>
            <a:endParaRPr lang="en-US" sz="1100" dirty="0"/>
          </a:p>
        </p:txBody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4160520"/>
            <a:ext cx="201168" cy="201168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594360" y="41148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23 verified LATAM groups with real, clickable URLs</a:t>
            </a:r>
            <a:endParaRPr lang="en-US" sz="1100" dirty="0"/>
          </a:p>
        </p:txBody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00400" y="4160520"/>
            <a:ext cx="201168" cy="201168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3474720" y="41148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the report on-chain (zkTanenbaum) for full transparency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64008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Telegram Bot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75488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conversation with @petid_agent_bot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850392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97280"/>
            <a:ext cx="4114800" cy="3657600"/>
          </a:xfrm>
          <a:prstGeom prst="rect">
            <a:avLst/>
          </a:prstGeom>
          <a:solidFill>
            <a:srgbClr val="1A1A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97280"/>
            <a:ext cx="4114800" cy="438912"/>
          </a:xfrm>
          <a:prstGeom prst="rect">
            <a:avLst/>
          </a:prstGeom>
          <a:solidFill>
            <a:srgbClr val="229ED9"/>
          </a:solidFill>
          <a:ln w="12700">
            <a:solidFill>
              <a:srgbClr val="229ED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161288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1248" y="116128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@petid_agent_bot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143000" y="1664208"/>
            <a:ext cx="3017520" cy="685800"/>
          </a:xfrm>
          <a:prstGeom prst="rect">
            <a:avLst/>
          </a:prstGeom>
          <a:solidFill>
            <a:srgbClr val="2B5278"/>
          </a:solidFill>
          <a:ln w="12700">
            <a:solidFill>
              <a:srgbClr val="2B527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34440" y="1691640"/>
            <a:ext cx="2834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"My dog Bruno got lost in Miraflores.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Labrador. +51 987 654 321.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S/200"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11480" y="2450592"/>
            <a:ext cx="3200400" cy="210312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2496312"/>
            <a:ext cx="3017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ALERT CREATED
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Alert created for Bruno
</a:t>
            </a:r>
            <a:pPr indent="0" marL="0">
              <a:buNone/>
            </a:pPr>
            <a:r>
              <a:rPr lang="en-US" sz="1050" dirty="0">
                <a:solidFill>
                  <a:srgbClr val="229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wa.me/51987654321
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Templates for 4 networks
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🌎 23 verified groups listed
</a:t>
            </a:r>
            <a:pPr indent="0" marL="0">
              <a:buNone/>
            </a:pPr>
            <a:r>
              <a:rPr lang="en-US" sz="10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⛓️ Registered on blockchain
</a:t>
            </a:r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 seconds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617720" y="1115568"/>
            <a:ext cx="4251960" cy="64008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128016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084064" y="11704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Auto-detection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084064" y="140817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identifies the report type — no menus or forms needed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617720" y="1819656"/>
            <a:ext cx="4251960" cy="64008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1984248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084064" y="18745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WhatsApp link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084064" y="21122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wa.me link auto-generated from the phone number provided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617720" y="2523744"/>
            <a:ext cx="4251960" cy="64008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2688336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084064" y="25786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ready templates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5084064" y="281635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Facebook, WhatsApp, Telegram &amp; Instagram with optimized hashtags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4617720" y="3227832"/>
            <a:ext cx="4251960" cy="64008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6592" y="3392424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084064" y="328269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groups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5084064" y="35204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LATAM groups with real URLs — Peru, Colombia, Mexico, Argentina, Chile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4617720" y="3931920"/>
            <a:ext cx="4251960" cy="64008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6592" y="4096512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084064" y="398678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friction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5084064" y="422452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conversation: users talk to the agent like a friend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64008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Groups &amp; Templates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75488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Ready-to-use distribution infrastructure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850392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97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🌎  23 Verified LATAM Groups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508760"/>
            <a:ext cx="4114800" cy="393192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508760"/>
            <a:ext cx="54864" cy="3931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554480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🇵🇪 Peru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91840" y="1554480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groups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956816"/>
            <a:ext cx="4114800" cy="393192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956816"/>
            <a:ext cx="54864" cy="39319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002536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🇨🇴 Colombia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2002536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groups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2404872"/>
            <a:ext cx="4114800" cy="393192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404872"/>
            <a:ext cx="54864" cy="39319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450592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🇲🇽 Mexico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91840" y="2450592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groups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2852928"/>
            <a:ext cx="4114800" cy="393192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2852928"/>
            <a:ext cx="54864" cy="39319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2898648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🇦🇷 Argentina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91840" y="2898648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groups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" y="3300984"/>
            <a:ext cx="4114800" cy="393192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3300984"/>
            <a:ext cx="54864" cy="393192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3346704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🇨🇱 Chile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91840" y="3346704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groups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0040" y="3749040"/>
            <a:ext cx="4114800" cy="393192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3749040"/>
            <a:ext cx="54864" cy="3931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" y="3794760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Reddit + Instagram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291840" y="3794760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each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20040" y="4251960"/>
            <a:ext cx="4114800" cy="502920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427939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All URLs are real and manually verified — no bots, no spam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663440" y="10972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Templates by Platform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663440" y="1508760"/>
            <a:ext cx="4206240" cy="603504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1508760"/>
            <a:ext cx="54864" cy="603504"/>
          </a:xfrm>
          <a:prstGeom prst="rect">
            <a:avLst/>
          </a:prstGeom>
          <a:solidFill>
            <a:srgbClr val="1877F2"/>
          </a:solidFill>
          <a:ln w="12700">
            <a:solidFill>
              <a:srgbClr val="1877F2"/>
            </a:solidFill>
            <a:prstDash val="solid"/>
          </a:ln>
        </p:spPr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1645920"/>
            <a:ext cx="320040" cy="32004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5212080" y="1563624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5212080" y="180136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hashtags + full description + contact info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4663440" y="2185416"/>
            <a:ext cx="4206240" cy="603504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4663440" y="2185416"/>
            <a:ext cx="54864" cy="603504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pic>
        <p:nvPicPr>
          <p:cNvPr id="4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322576"/>
            <a:ext cx="320040" cy="320040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5212080" y="2240280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200" dirty="0"/>
          </a:p>
        </p:txBody>
      </p:sp>
      <p:sp>
        <p:nvSpPr>
          <p:cNvPr id="43" name="Text 39"/>
          <p:cNvSpPr/>
          <p:nvPr/>
        </p:nvSpPr>
        <p:spPr>
          <a:xfrm>
            <a:off x="5212080" y="247802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Short, urgent message — ready to forward to groups</a:t>
            </a:r>
            <a:endParaRPr lang="en-US" sz="1000" dirty="0"/>
          </a:p>
        </p:txBody>
      </p:sp>
      <p:sp>
        <p:nvSpPr>
          <p:cNvPr id="44" name="Shape 40"/>
          <p:cNvSpPr/>
          <p:nvPr/>
        </p:nvSpPr>
        <p:spPr>
          <a:xfrm>
            <a:off x="4663440" y="2862072"/>
            <a:ext cx="4206240" cy="603504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45" name="Shape 41"/>
          <p:cNvSpPr/>
          <p:nvPr/>
        </p:nvSpPr>
        <p:spPr>
          <a:xfrm>
            <a:off x="4663440" y="2862072"/>
            <a:ext cx="54864" cy="603504"/>
          </a:xfrm>
          <a:prstGeom prst="rect">
            <a:avLst/>
          </a:prstGeom>
          <a:solidFill>
            <a:srgbClr val="229ED9"/>
          </a:solidFill>
          <a:ln w="12700">
            <a:solidFill>
              <a:srgbClr val="229ED9"/>
            </a:solidFill>
            <a:prstDash val="solid"/>
          </a:ln>
        </p:spPr>
      </p:sp>
      <p:pic>
        <p:nvPicPr>
          <p:cNvPr id="4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2999232"/>
            <a:ext cx="320040" cy="320040"/>
          </a:xfrm>
          <a:prstGeom prst="rect">
            <a:avLst/>
          </a:prstGeom>
        </p:spPr>
      </p:pic>
      <p:sp>
        <p:nvSpPr>
          <p:cNvPr id="47" name="Text 42"/>
          <p:cNvSpPr/>
          <p:nvPr/>
        </p:nvSpPr>
        <p:spPr>
          <a:xfrm>
            <a:off x="5212080" y="2916936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</a:t>
            </a:r>
            <a:endParaRPr lang="en-US" sz="1200" dirty="0"/>
          </a:p>
        </p:txBody>
      </p:sp>
      <p:sp>
        <p:nvSpPr>
          <p:cNvPr id="48" name="Text 43"/>
          <p:cNvSpPr/>
          <p:nvPr/>
        </p:nvSpPr>
        <p:spPr>
          <a:xfrm>
            <a:off x="5212080" y="31546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formatting for maximum visual impact in chat</a:t>
            </a:r>
            <a:endParaRPr lang="en-US" sz="1000" dirty="0"/>
          </a:p>
        </p:txBody>
      </p:sp>
      <p:sp>
        <p:nvSpPr>
          <p:cNvPr id="49" name="Shape 44"/>
          <p:cNvSpPr/>
          <p:nvPr/>
        </p:nvSpPr>
        <p:spPr>
          <a:xfrm>
            <a:off x="4663440" y="3538728"/>
            <a:ext cx="4206240" cy="603504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50" name="Shape 45"/>
          <p:cNvSpPr/>
          <p:nvPr/>
        </p:nvSpPr>
        <p:spPr>
          <a:xfrm>
            <a:off x="4663440" y="3538728"/>
            <a:ext cx="54864" cy="603504"/>
          </a:xfrm>
          <a:prstGeom prst="rect">
            <a:avLst/>
          </a:prstGeom>
          <a:solidFill>
            <a:srgbClr val="E1306C"/>
          </a:solidFill>
          <a:ln w="12700">
            <a:solidFill>
              <a:srgbClr val="E1306C"/>
            </a:solidFill>
            <a:prstDash val="solid"/>
          </a:ln>
        </p:spPr>
      </p:sp>
      <p:pic>
        <p:nvPicPr>
          <p:cNvPr id="5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3675888"/>
            <a:ext cx="320040" cy="320040"/>
          </a:xfrm>
          <a:prstGeom prst="rect">
            <a:avLst/>
          </a:prstGeom>
        </p:spPr>
      </p:pic>
      <p:sp>
        <p:nvSpPr>
          <p:cNvPr id="52" name="Text 46"/>
          <p:cNvSpPr/>
          <p:nvPr/>
        </p:nvSpPr>
        <p:spPr>
          <a:xfrm>
            <a:off x="5212080" y="3593592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200" dirty="0"/>
          </a:p>
        </p:txBody>
      </p:sp>
      <p:sp>
        <p:nvSpPr>
          <p:cNvPr id="53" name="Text 47"/>
          <p:cNvSpPr/>
          <p:nvPr/>
        </p:nvSpPr>
        <p:spPr>
          <a:xfrm>
            <a:off x="5212080" y="383133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 with emojis and high-reach hashtags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64008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Integration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75488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PetRegistry Smart Contract on zkTanenbaum — Chain ID 57057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850392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97280"/>
            <a:ext cx="8503920" cy="502920"/>
          </a:xfrm>
          <a:prstGeom prst="rect">
            <a:avLst/>
          </a:prstGeom>
          <a:solidFill>
            <a:srgbClr val="11224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6128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Contract:  0x7Ff5e0f9c8bb86422D5d1a6560b8cD67e8d99289  ·  zkTanenbaum Explorer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" y="1737360"/>
            <a:ext cx="2743200" cy="141732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737360"/>
            <a:ext cx="274320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01952"/>
            <a:ext cx="384048" cy="38404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14400" y="1874520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NFT Registration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2359152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pet = unique ERC-721 token, immutable on-chain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18688" y="1737360"/>
            <a:ext cx="2743200" cy="141732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18688" y="1737360"/>
            <a:ext cx="27432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848" y="1901952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813048" y="1874520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Mode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355848" y="2359152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alert activation with verifiable timestamp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117336" y="1737360"/>
            <a:ext cx="2743200" cy="141732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117336" y="1737360"/>
            <a:ext cx="2743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1901952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711696" y="1874520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Sighting Reports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254496" y="2359152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Anti-spam staking mechanism for sighting submissions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320040" y="3310128"/>
            <a:ext cx="2743200" cy="141732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320040" y="3310128"/>
            <a:ext cx="2743200" cy="54864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474720"/>
            <a:ext cx="384048" cy="38404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14400" y="344728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History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457200" y="39319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Lost, found, sighted, abandoned — all recorded on-chain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3218688" y="3310128"/>
            <a:ext cx="2743200" cy="141732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3218688" y="3310128"/>
            <a:ext cx="274320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5848" y="3474720"/>
            <a:ext cx="384048" cy="38404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3813048" y="344728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Resolution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3355848" y="39319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case closure when the pet returns home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117336" y="3310128"/>
            <a:ext cx="2743200" cy="141732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6117336" y="3310128"/>
            <a:ext cx="274320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4496" y="3474720"/>
            <a:ext cx="384048" cy="384048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6711696" y="344728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Claims</a:t>
            </a:r>
            <a:endParaRPr lang="en-US" sz="1200" dirty="0"/>
          </a:p>
        </p:txBody>
      </p:sp>
      <p:sp>
        <p:nvSpPr>
          <p:cNvPr id="37" name="Text 29"/>
          <p:cNvSpPr/>
          <p:nvPr/>
        </p:nvSpPr>
        <p:spPr>
          <a:xfrm>
            <a:off x="6254496" y="39319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and automated reward distribution</a:t>
            </a:r>
            <a:endParaRPr lang="en-US" sz="1100" dirty="0"/>
          </a:p>
        </p:txBody>
      </p:sp>
      <p:sp>
        <p:nvSpPr>
          <p:cNvPr id="38" name="Text 30"/>
          <p:cNvSpPr/>
          <p:nvPr/>
        </p:nvSpPr>
        <p:spPr>
          <a:xfrm>
            <a:off x="320040" y="477316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Complete and immutable audit trail — from loss to reunion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64008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75488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— AI · Blockchain · Multi-platform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850392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97280"/>
            <a:ext cx="2743200" cy="4114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Agent Layer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508760"/>
            <a:ext cx="2743200" cy="333756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627632"/>
            <a:ext cx="54864" cy="2286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6002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Cerebras Llama 3.1 8B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066544"/>
            <a:ext cx="54864" cy="2286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03911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 faster than OpenAI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505456"/>
            <a:ext cx="54864" cy="2286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47802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function calling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944368"/>
            <a:ext cx="54864" cy="2286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91693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tools: create_alert, search_groups,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get_stats, chain_stats, on-chain_data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383280"/>
            <a:ext cx="54864" cy="2286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35584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memory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822192"/>
            <a:ext cx="54864" cy="2286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79476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detection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4261104"/>
            <a:ext cx="54864" cy="2286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23367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loop with multi-tool chaining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18688" y="1097280"/>
            <a:ext cx="27432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10128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&amp; API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18688" y="1508760"/>
            <a:ext cx="2743200" cy="333756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55848" y="1627632"/>
            <a:ext cx="54864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93008" y="16002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(polling + webhook)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355848" y="2066544"/>
            <a:ext cx="54864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93008" y="203911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 (slash commands)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355848" y="2505456"/>
            <a:ext cx="54864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93008" y="247802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— third-party integration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355848" y="2944368"/>
            <a:ext cx="54864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93008" y="291693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SuperDapp connector (Web3)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355848" y="3383280"/>
            <a:ext cx="54864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93008" y="335584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adapter (Syscoin)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355848" y="3822192"/>
            <a:ext cx="54864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93008" y="379476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deploy (auto CI/CD)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355848" y="4261104"/>
            <a:ext cx="54864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93008" y="423367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117336" y="1097280"/>
            <a:ext cx="2743200" cy="41148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08776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Layer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117336" y="1508760"/>
            <a:ext cx="2743200" cy="333756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254496" y="1627632"/>
            <a:ext cx="54864" cy="2286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91656" y="16002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zkTanenbaum (Chain ID 57057)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254496" y="2066544"/>
            <a:ext cx="54864" cy="2286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91656" y="203911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ethers.js RPC connector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254496" y="2505456"/>
            <a:ext cx="54864" cy="2286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91656" y="247802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ERC-721 PetRegistry contract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254496" y="2944368"/>
            <a:ext cx="54864" cy="2286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91656" y="291693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Zero-Knowledge proof ready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254496" y="3383280"/>
            <a:ext cx="54864" cy="2286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91656" y="335584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Anti-spam staking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254496" y="3822192"/>
            <a:ext cx="54864" cy="2286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91656" y="379476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timestamps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6254496" y="4261104"/>
            <a:ext cx="54864" cy="2286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91656" y="423367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trail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320040" y="4617720"/>
            <a:ext cx="8503920" cy="384048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Deployed on Railway  ·  Open Source — MIT License  ·  github.com/OffChainTeam/2-agente-mascotas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64008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75488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+ PET Token — a clear path to sustainability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850392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972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Revenue Streams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508760"/>
            <a:ext cx="4389120" cy="484632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508760"/>
            <a:ext cx="54864" cy="4846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6002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alert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91840" y="158191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34840" y="1618488"/>
            <a:ext cx="201168" cy="2560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4840" y="161848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320040" y="2057400"/>
            <a:ext cx="4389120" cy="484632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057400"/>
            <a:ext cx="54864" cy="4846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1488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alert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91840" y="21305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$2.99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434840" y="2167128"/>
            <a:ext cx="201168" cy="2560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34840" y="216712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320040" y="2606040"/>
            <a:ext cx="4389120" cy="484632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2606040"/>
            <a:ext cx="54864" cy="4846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269748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search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91840" y="26791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$0.99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0040" y="3154680"/>
            <a:ext cx="4389120" cy="484632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3154680"/>
            <a:ext cx="54864" cy="48463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324612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Shelter dashboard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91840" y="322783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$49/mo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20040" y="3703320"/>
            <a:ext cx="4389120" cy="484632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3703320"/>
            <a:ext cx="54864" cy="48463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" y="37947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agent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291840" y="377647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$9.99/mo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20040" y="4315968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Projections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20040" y="4617720"/>
            <a:ext cx="4389120" cy="384048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4654296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1: 50K users → $180K ARR     ·     Year 3: 1M users → $3.6M ARR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92040" y="10972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🪙  PET Tokenomics</a:t>
            </a:r>
            <a:endParaRPr lang="en-US" sz="1300" dirty="0"/>
          </a:p>
        </p:txBody>
      </p:sp>
      <p:graphicFrame>
        <p:nvGraphicFramePr>
          <p:cNvPr id="35" name="Chart 0" descr=""/>
          <p:cNvGraphicFramePr/>
          <p:nvPr/>
        </p:nvGraphicFramePr>
        <p:xfrm>
          <a:off x="4892040" y="1481328"/>
          <a:ext cx="39319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6" name="Shape 33"/>
          <p:cNvSpPr/>
          <p:nvPr/>
        </p:nvSpPr>
        <p:spPr>
          <a:xfrm>
            <a:off x="4892040" y="3858768"/>
            <a:ext cx="457200" cy="219456"/>
          </a:xfrm>
          <a:prstGeom prst="rect">
            <a:avLst/>
          </a:prstGeom>
          <a:solidFill>
            <a:srgbClr val="0E3A6E"/>
          </a:solidFill>
          <a:ln w="12700">
            <a:solidFill>
              <a:srgbClr val="0E3A6E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892040" y="38587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5422392" y="3858768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4892040" y="4114800"/>
            <a:ext cx="457200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892040" y="41148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5422392" y="4114800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(shelters)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4892040" y="4370832"/>
            <a:ext cx="457200" cy="21945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892040" y="437083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5422392" y="4370832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Finders Pool (rewards)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4892040" y="4626864"/>
            <a:ext cx="457200" cy="21945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892040" y="462686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5422392" y="4626864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share to holders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4892040" y="4882896"/>
            <a:ext cx="457200" cy="2194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4892040" y="488289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5422392" y="4882896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 per transaction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64008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Advantage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75488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moats that make PETID hard to replicate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850392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97280"/>
            <a:ext cx="2743200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1161288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0392" y="11430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Moat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0040" y="1600200"/>
            <a:ext cx="2743200" cy="228600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755648"/>
            <a:ext cx="182880" cy="1828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4088" y="1719072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index of 23 verified groups — data that exists nowhere else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2441448"/>
            <a:ext cx="182880" cy="1828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04088" y="2404872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history: immutable record of every case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3127248"/>
            <a:ext cx="182880" cy="1828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04088" y="3090672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with function calling — not a chatbot, an agent that acts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218688" y="1097280"/>
            <a:ext cx="27432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8416" y="1161288"/>
            <a:ext cx="347472" cy="34747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749040" y="11430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Moat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3218688" y="1600200"/>
            <a:ext cx="2743200" cy="228600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3355848" y="1755648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602736" y="1719072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Flywheel: more users → more data → better AI → more recoveries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3355848" y="2441448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602736" y="2404872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Multi-channel presence: Discord, Telegram, SuperDapp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3355848" y="3127248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602736" y="3090672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network of shelters and verified reporters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6117336" y="1097280"/>
            <a:ext cx="2743200" cy="50292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064" y="1161288"/>
            <a:ext cx="347472" cy="347472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647688" y="11430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Moat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6117336" y="1600200"/>
            <a:ext cx="2743200" cy="228600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6254496" y="1755648"/>
            <a:ext cx="182880" cy="182880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6501384" y="1719072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will pay to find their pet — urgency is natural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6254496" y="2441448"/>
            <a:ext cx="182880" cy="182880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6501384" y="2404872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24 hours are critical — immediate willingness to pay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6254496" y="3127248"/>
            <a:ext cx="182880" cy="182880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6501384" y="3090672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success story drives organic, viral marketing</a:t>
            </a:r>
            <a:endParaRPr lang="en-US" sz="1100" dirty="0"/>
          </a:p>
        </p:txBody>
      </p:sp>
      <p:sp>
        <p:nvSpPr>
          <p:cNvPr id="36" name="Text 31"/>
          <p:cNvSpPr/>
          <p:nvPr/>
        </p:nvSpPr>
        <p:spPr>
          <a:xfrm>
            <a:off x="320040" y="3977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279392"/>
          <a:ext cx="8503920" cy="777240"/>
        </p:xfrm>
        <a:graphic>
          <a:graphicData uri="http://schemas.openxmlformats.org/drawingml/2006/table">
            <a:tbl>
              <a:tblPr/>
              <a:tblGrid>
                <a:gridCol w="2011680"/>
                <a:gridCol w="1554480"/>
                <a:gridCol w="1554480"/>
                <a:gridCol w="1691640"/>
                <a:gridCol w="1691640"/>
              </a:tblGrid>
              <a:tr h="1554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Flyers/FB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Shelters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Other Apps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PETID Agent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6E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BD5E1"/>
                          </a:solidFill>
                        </a:rPr>
                        <a:t>⚡ Speed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</a:rPr>
                        <a:t>Days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</a:rPr>
                        <a:t>Days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</a:rPr>
                        <a:t>Hours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</a:rPr>
                        <a:t>&lt; 10 sec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BD5E1"/>
                          </a:solidFill>
                        </a:rPr>
                        <a:t>⛓️ Blockchain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</a:rPr>
                        <a:t>❌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</a:rPr>
                        <a:t>❌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</a:rPr>
                        <a:t>❌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</a:rPr>
                        <a:t>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BD5E1"/>
                          </a:solidFill>
                        </a:rPr>
                        <a:t>🤖 Agentic AI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</a:rPr>
                        <a:t>❌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</a:rPr>
                        <a:t>❌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</a:rPr>
                        <a:t>Partial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</a:rPr>
                        <a:t>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BD5E1"/>
                          </a:solidFill>
                        </a:rPr>
                        <a:t>🌎 LATAM Groups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</a:rPr>
                        <a:t>Manual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</a:rPr>
                        <a:t>❌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</a:rPr>
                        <a:t>❌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</a:rPr>
                        <a:t>23 verified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64008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Call to Action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75488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MVP to global animal protection protocol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850392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1115568"/>
            <a:ext cx="502920" cy="50292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115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600200" y="1362456"/>
            <a:ext cx="932688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320040" y="1719072"/>
            <a:ext cx="2029968" cy="242316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719072"/>
            <a:ext cx="2029968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79222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· Now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2148840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Telegram + Discord agents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2624328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zkTanenbaum integration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3099816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23 verified LATAM groups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575304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Public REST API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10128" y="1115568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0128" y="1115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813048" y="1362456"/>
            <a:ext cx="932688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2532888" y="1719072"/>
            <a:ext cx="2029968" cy="242316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32888" y="1719072"/>
            <a:ext cx="2029968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24328" y="179222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LATAM · 2026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624328" y="2148840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Native mobile app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624328" y="2624328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NFC collar scanner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624328" y="3099816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PET token on Syscoin mainnet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624328" y="3575304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Full LATAM expansion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522976" y="1115568"/>
            <a:ext cx="502920" cy="50292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22976" y="1115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25896" y="1362456"/>
            <a:ext cx="932688" cy="0"/>
          </a:xfrm>
          <a:prstGeom prst="line">
            <a:avLst/>
          </a:prstGeom>
          <a:noFill/>
          <a:ln w="25400">
            <a:solidFill>
              <a:srgbClr val="A855F7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4745736" y="1719072"/>
            <a:ext cx="2029968" cy="242316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45736" y="1719072"/>
            <a:ext cx="2029968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37176" y="179222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· 2027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37176" y="2148840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Open protocol (nodes)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37176" y="2624328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Multimodal visual AI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37176" y="3099816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Pet image recognition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37176" y="3575304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Global shelter network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735824" y="1115568"/>
            <a:ext cx="502920" cy="50292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35824" y="1115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958584" y="1719072"/>
            <a:ext cx="2029968" cy="242316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958584" y="1719072"/>
            <a:ext cx="2029968" cy="54864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50024" y="179222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 · 2028+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050024" y="2148840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Autonomous ecosystem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050024" y="2624328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Animal protection DAO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050024" y="3099816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Specialized agents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050024" y="3575304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10M+ pets protected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20040" y="4279392"/>
            <a:ext cx="8503920" cy="6858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57200" y="43159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🐾  Try it NOW  →  Telegram: @petid_agent_bot  |  API: petid-agent-production.up.railway.app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320040" y="4919472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github.com/OffChainTeam/2-agente-mascotas  ·  Contract: explorer-zk.tanenbaum.io  ·  MIT License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PETID Agent v2.0 — Hackathon Syscoin PoB IV</dc:title>
  <dc:subject>PptxGenJS Presentation</dc:subject>
  <dc:creator>PptxGenJS</dc:creator>
  <cp:lastModifiedBy>PptxGenJS</cp:lastModifiedBy>
  <cp:revision>1</cp:revision>
  <dcterms:created xsi:type="dcterms:W3CDTF">2026-04-07T04:58:29Z</dcterms:created>
  <dcterms:modified xsi:type="dcterms:W3CDTF">2026-04-07T04:58:29Z</dcterms:modified>
</cp:coreProperties>
</file>